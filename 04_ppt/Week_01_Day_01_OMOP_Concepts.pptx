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rPr>
                <a:latin typeface="Calibri"/>
              </a:rPr>
              <a:t>OMOP Common Data Model (CDM)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>
                <a:latin typeface="Calibri"/>
              </a:rPr>
              <a:t>Internship Progress – Day 1</a:t>
            </a:r>
          </a:p>
          <a:p>
            <a:pPr>
              <a:defRPr sz="2200"/>
            </a:pPr>
            <a:r>
              <a:rPr>
                <a:latin typeface="Calibri"/>
              </a:rPr>
              <a:t>Rupak Aryal</a:t>
            </a:r>
          </a:p>
          <a:p>
            <a:pPr>
              <a:defRPr sz="2200"/>
            </a:pPr>
            <a:r>
              <a:rPr>
                <a:latin typeface="Calibri"/>
              </a:rPr>
              <a:t>24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rPr>
                <a:latin typeface="Calibri"/>
              </a:rPr>
              <a:t>What is OMOP?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>
                <a:latin typeface="Calibri"/>
              </a:rPr>
              <a:t>OMOP = Observational Medical Outcomes Partnership</a:t>
            </a:r>
          </a:p>
          <a:p>
            <a:pPr>
              <a:defRPr sz="2400"/>
            </a:pPr>
            <a:r>
              <a:rPr>
                <a:latin typeface="Calibri"/>
              </a:rPr>
              <a:t>A standardized Common Data Model (CDM) for healthcare data</a:t>
            </a:r>
          </a:p>
          <a:p>
            <a:pPr>
              <a:defRPr sz="2400"/>
            </a:pPr>
            <a:r>
              <a:rPr>
                <a:latin typeface="Calibri"/>
              </a:rPr>
              <a:t>Organizes diverse datasets into a uniform structure</a:t>
            </a:r>
          </a:p>
          <a:p>
            <a:pPr>
              <a:defRPr sz="2400"/>
            </a:pPr>
            <a:r>
              <a:rPr>
                <a:latin typeface="Calibri"/>
              </a:rPr>
              <a:t>Maintained by the OHDSI community</a:t>
            </a:r>
          </a:p>
          <a:p>
            <a:pPr>
              <a:defRPr sz="2400"/>
            </a:pPr>
            <a:r>
              <a:rPr>
                <a:latin typeface="Calibri"/>
              </a:rPr>
              <a:t>Used for research and analytics (not hospital operations)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rPr>
                <a:latin typeface="Calibri"/>
              </a:rPr>
              <a:t>Why OMOP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>
                <a:latin typeface="Calibri"/>
              </a:rPr>
              <a:t>Healthcare data is fragmented across systems</a:t>
            </a:r>
          </a:p>
          <a:p>
            <a:pPr>
              <a:defRPr sz="2400"/>
            </a:pPr>
            <a:r>
              <a:rPr>
                <a:latin typeface="Calibri"/>
              </a:rPr>
              <a:t>Different coding standards (ICD, SNOMED, local codes)</a:t>
            </a:r>
          </a:p>
          <a:p>
            <a:pPr>
              <a:defRPr sz="2400"/>
            </a:pPr>
            <a:r>
              <a:rPr>
                <a:latin typeface="Calibri"/>
              </a:rPr>
              <a:t>Hard to run large-scale studies consistently</a:t>
            </a:r>
          </a:p>
          <a:p>
            <a:pPr>
              <a:defRPr sz="2400"/>
            </a:pPr>
            <a:r>
              <a:rPr>
                <a:latin typeface="Calibri"/>
              </a:rPr>
              <a:t>OMOP standardizes structure + vocabulary</a:t>
            </a:r>
          </a:p>
          <a:p>
            <a:pPr>
              <a:defRPr sz="2400"/>
            </a:pPr>
            <a:r>
              <a:rPr>
                <a:latin typeface="Calibri"/>
              </a:rPr>
              <a:t>Enables multi-institutional observational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rPr>
                <a:latin typeface="Calibri"/>
              </a:rPr>
              <a:t>Core Structure of OMOP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>
                <a:latin typeface="Calibri"/>
              </a:rPr>
              <a:t>PERSON → Demographics</a:t>
            </a:r>
          </a:p>
          <a:p>
            <a:pPr>
              <a:defRPr sz="2400"/>
            </a:pPr>
            <a:r>
              <a:rPr>
                <a:latin typeface="Calibri"/>
              </a:rPr>
              <a:t>VISIT_OCCURRENCE → Hospital visits</a:t>
            </a:r>
          </a:p>
          <a:p>
            <a:pPr>
              <a:defRPr sz="2400"/>
            </a:pPr>
            <a:r>
              <a:rPr>
                <a:latin typeface="Calibri"/>
              </a:rPr>
              <a:t>CONDITION_OCCURRENCE → Diagnoses</a:t>
            </a:r>
          </a:p>
          <a:p>
            <a:pPr>
              <a:defRPr sz="2400"/>
            </a:pPr>
            <a:r>
              <a:rPr>
                <a:latin typeface="Calibri"/>
              </a:rPr>
              <a:t>DRUG_EXPOSURE → Medications</a:t>
            </a:r>
          </a:p>
          <a:p>
            <a:pPr>
              <a:defRPr sz="2400"/>
            </a:pPr>
            <a:r>
              <a:rPr>
                <a:latin typeface="Calibri"/>
              </a:rPr>
              <a:t>MEASUREMENT → Lab results</a:t>
            </a:r>
          </a:p>
          <a:p>
            <a:pPr>
              <a:defRPr sz="2400"/>
            </a:pPr>
            <a:r>
              <a:rPr>
                <a:latin typeface="Calibri"/>
              </a:rPr>
              <a:t>Tables are linked using person_id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rPr>
                <a:latin typeface="Calibri"/>
              </a:rPr>
              <a:t>How Data Enters OMOP (ETL)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>
                <a:latin typeface="Calibri"/>
              </a:rPr>
              <a:t>Hospitals do not directly use OMOP in operations</a:t>
            </a:r>
          </a:p>
          <a:p>
            <a:pPr>
              <a:defRPr sz="2400"/>
            </a:pPr>
            <a:r>
              <a:rPr>
                <a:latin typeface="Calibri"/>
              </a:rPr>
              <a:t>Raw clinical data must be converted into OMOP format</a:t>
            </a:r>
          </a:p>
          <a:p>
            <a:pPr>
              <a:defRPr sz="2400"/>
            </a:pPr>
            <a:r>
              <a:rPr>
                <a:latin typeface="Calibri"/>
              </a:rPr>
              <a:t>ETL = Extract → Transform → Load</a:t>
            </a:r>
          </a:p>
          <a:p>
            <a:pPr>
              <a:defRPr sz="2400"/>
            </a:pPr>
            <a:r>
              <a:rPr>
                <a:latin typeface="Calibri"/>
              </a:rPr>
              <a:t>Map local codes to standard vocabularies</a:t>
            </a:r>
          </a:p>
          <a:p>
            <a:pPr>
              <a:defRPr sz="2400"/>
            </a:pPr>
            <a:r>
              <a:rPr>
                <a:latin typeface="Calibri"/>
              </a:rPr>
              <a:t>Load into OMOP tables for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